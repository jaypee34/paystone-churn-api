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300" b="1" i="0" u="none" strike="noStrike" dirty="0">
                <a:solidFill>
                  <a:srgbClr val="1E2761"/>
                </a:solidFill>
                <a:latin typeface="Calibri"/>
              </a:rPr>
              <a:t>Customer Base by Churn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44-4FE0-8671-25F6D0CF11BC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44-4FE0-8671-25F6D0CF11B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44-4FE0-8671-25F6D0CF11B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44-4FE0-8671-25F6D0CF11B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Existing Customer</c:v>
                </c:pt>
                <c:pt idx="1">
                  <c:v>Attrited Customer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</c:v>
                </c:pt>
                <c:pt idx="1">
                  <c:v>1627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44-4FE0-8671-25F6D0CF1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GB" sz="1300" b="0" i="0" u="none" strike="noStrike">
                <a:solidFill>
                  <a:srgbClr val="1E2761"/>
                </a:solidFill>
                <a:latin typeface="Calibri"/>
              </a:rPr>
              <a:t>Model Comparison by ROC-AUC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A6-484F-8B7A-0B9ED362E97D}"/>
              </c:ext>
            </c:extLst>
          </c:dPt>
          <c:dPt>
            <c:idx val="1"/>
            <c:invertIfNegative val="0"/>
            <c:bubble3D val="0"/>
            <c:spPr>
              <a:solidFill>
                <a:srgbClr val="6D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A6-484F-8B7A-0B9ED362E97D}"/>
              </c:ext>
            </c:extLst>
          </c:dPt>
          <c:dPt>
            <c:idx val="2"/>
            <c:invertIfNegative val="0"/>
            <c:bubble3D val="0"/>
            <c:spPr>
              <a:solidFill>
                <a:srgbClr val="6D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A6-484F-8B7A-0B9ED362E97D}"/>
              </c:ext>
            </c:extLst>
          </c:dPt>
          <c:dPt>
            <c:idx val="3"/>
            <c:invertIfNegative val="0"/>
            <c:bubble3D val="0"/>
            <c:spPr>
              <a:solidFill>
                <a:srgbClr val="6D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A6-484F-8B7A-0B9ED362E97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CatBoost</c:v>
                </c:pt>
                <c:pt idx="1">
                  <c:v>XGBoost</c:v>
                </c:pt>
                <c:pt idx="2">
                  <c:v>LightGBM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92.5</c:v>
                </c:pt>
                <c:pt idx="1">
                  <c:v>92.2</c:v>
                </c:pt>
                <c:pt idx="2">
                  <c:v>91.7</c:v>
                </c:pt>
                <c:pt idx="3">
                  <c:v>88.3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A6-484F-8B7A-0B9ED362E9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AED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04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82880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EXPLAINABLE 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Customer Churn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Understanding, predicting, and preventing customer attrition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
</a:t>
            </a: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Team  •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State of Customer Churn at PayStone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8013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219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10,127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8096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10712" y="1600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icon_userx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8013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2152" y="22219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1,627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630168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72784" y="1600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2" descr="icon_trenddown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013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64224" y="22219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492240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134856" y="16002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_targe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180136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6296" y="222199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9354312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(ROC-AUC)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4023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GB" sz="1400" b="1" dirty="0">
                <a:solidFill>
                  <a:schemeClr val="tx2"/>
                </a:solidFill>
              </a:rPr>
              <a:t>Churn is driven more by customer engagement than demographics:</a:t>
            </a:r>
            <a:r>
              <a:rPr lang="en-GB" sz="1400" dirty="0">
                <a:solidFill>
                  <a:schemeClr val="tx2"/>
                </a:solidFill>
              </a:rPr>
              <a:t> Support contact frequency and inactivity are the strongest predictors of churn. </a:t>
            </a:r>
          </a:p>
          <a:p>
            <a:pPr lvl="0"/>
            <a:r>
              <a:rPr lang="en-GB" sz="1400" b="1" dirty="0">
                <a:solidFill>
                  <a:schemeClr val="tx2"/>
                </a:solidFill>
              </a:rPr>
              <a:t>Churners disengage before they leave:</a:t>
            </a:r>
            <a:r>
              <a:rPr lang="en-GB" sz="1400" dirty="0">
                <a:solidFill>
                  <a:schemeClr val="tx2"/>
                </a:solidFill>
              </a:rPr>
              <a:t> They tend to have fewer products, declining transaction activity, and lower card utilisation. </a:t>
            </a:r>
          </a:p>
          <a:p>
            <a:pPr lvl="0"/>
            <a:r>
              <a:rPr lang="en-GB" sz="1400" b="1" dirty="0">
                <a:solidFill>
                  <a:schemeClr val="tx2"/>
                </a:solidFill>
              </a:rPr>
              <a:t>Certain customer segments show elevated churn:</a:t>
            </a:r>
            <a:r>
              <a:rPr lang="en-GB" sz="1400" dirty="0">
                <a:solidFill>
                  <a:schemeClr val="tx2"/>
                </a:solidFill>
              </a:rPr>
              <a:t> Platinum customers (</a:t>
            </a:r>
            <a:r>
              <a:rPr lang="en-GB" sz="1400" b="1" dirty="0">
                <a:solidFill>
                  <a:schemeClr val="tx2"/>
                </a:solidFill>
              </a:rPr>
              <a:t>25.0%</a:t>
            </a:r>
            <a:r>
              <a:rPr lang="en-GB" sz="1400" dirty="0">
                <a:solidFill>
                  <a:schemeClr val="tx2"/>
                </a:solidFill>
              </a:rPr>
              <a:t>) and Doctorate customers (</a:t>
            </a:r>
            <a:r>
              <a:rPr lang="en-GB" sz="1400" b="1" dirty="0">
                <a:solidFill>
                  <a:schemeClr val="tx2"/>
                </a:solidFill>
              </a:rPr>
              <a:t>21.1%</a:t>
            </a:r>
            <a:r>
              <a:rPr lang="en-GB" sz="1400" dirty="0">
                <a:solidFill>
                  <a:schemeClr val="tx2"/>
                </a:solidFill>
              </a:rPr>
              <a:t>) churn above the </a:t>
            </a:r>
            <a:r>
              <a:rPr lang="en-GB" sz="1400" b="1" dirty="0">
                <a:solidFill>
                  <a:schemeClr val="tx2"/>
                </a:solidFill>
              </a:rPr>
              <a:t>16.1% overall churn rate</a:t>
            </a:r>
            <a:r>
              <a:rPr lang="en-GB" sz="1400" dirty="0">
                <a:solidFill>
                  <a:schemeClr val="tx2"/>
                </a:solidFill>
              </a:rPr>
              <a:t>.</a:t>
            </a:r>
          </a:p>
          <a:p>
            <a:pPr>
              <a:lnSpc>
                <a:spcPts val="2000"/>
              </a:lnSpc>
              <a:spcAft>
                <a:spcPts val="1000"/>
              </a:spcAft>
              <a:buSzPct val="100000"/>
            </a:pP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0" y="365760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672084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720840" y="425196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CatBoost churn model to score the active customer base monthly, routing high-risk customers to a targeted retention programme before they leave.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720840" y="5623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roadmap on slide 10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11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THE CUSTOMER 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PayStone's 10,127 Customers?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24797319"/>
              </p:ext>
            </p:extLst>
          </p:nvPr>
        </p:nvGraphicFramePr>
        <p:xfrm>
          <a:off x="548640" y="1554480"/>
          <a:ext cx="3749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627632"/>
            <a:ext cx="265176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3560" y="14813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 Female &amp; 47.1% Male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577840" y="18105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Gender distribution is relatively balanced across the customer base</a:t>
            </a:r>
            <a:r>
              <a:rPr lang="en-GB" sz="1200" dirty="0">
                <a:solidFill>
                  <a:schemeClr val="bg2">
                    <a:lumMod val="9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92040" y="246888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1" descr="icon_aw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5877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23560" y="24414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 hold a Graduate degree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623560" y="27614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Graduate represents the largest education segment in the customer base</a:t>
            </a:r>
            <a:r>
              <a:rPr lang="en-GB" sz="1200" b="1" dirty="0"/>
              <a:t>.</a:t>
            </a:r>
            <a:endParaRPr lang="en-GB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92040" y="342900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icon_lay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547872"/>
            <a:ext cx="265176" cy="2651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23560" y="340156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 Married, 38.9% Single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623560" y="37216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Married customers represent the largest marital-status group in the customer base.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892040" y="438912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3" descr="icon_car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4507992"/>
            <a:ext cx="265176" cy="2651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23560" y="43616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 hold the Blue card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623560" y="46817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product mix is heavily concentrated in the entry-level tier.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11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THE CUSTOMER 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Churn Risk Concentrates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9119" y="1271016"/>
            <a:ext cx="109795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GB" sz="1400" b="1" dirty="0"/>
          </a:p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Demographic differences in churn are present but relatively modest, with a few segments showing churn rates notably above PayStone’s 16.1% overall rate.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13232" y="2167128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13232" y="216712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 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1444752" cy="0"/>
          </a:xfrm>
          <a:prstGeom prst="line">
            <a:avLst/>
          </a:prstGeom>
          <a:noFill/>
          <a:ln w="127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94944" y="388620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cardholders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999232" y="2167128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999232" y="216712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262432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926080" y="333756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 pts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3749040"/>
            <a:ext cx="1444752" cy="0"/>
          </a:xfrm>
          <a:prstGeom prst="line">
            <a:avLst/>
          </a:prstGeom>
          <a:noFill/>
          <a:ln w="127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980944" y="388620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Doctorate education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285232" y="2167128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B786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285232" y="216712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12080" y="262432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18.1%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212080" y="333756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 pts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40680" y="3749040"/>
            <a:ext cx="1444752" cy="0"/>
          </a:xfrm>
          <a:prstGeom prst="line">
            <a:avLst/>
          </a:prstGeom>
          <a:noFill/>
          <a:ln w="127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266944" y="388620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cardholders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571232" y="2167128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B786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571232" y="216712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0" y="262432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17.8%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498080" y="333756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 pts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26680" y="3749040"/>
            <a:ext cx="1444752" cy="0"/>
          </a:xfrm>
          <a:prstGeom prst="line">
            <a:avLst/>
          </a:prstGeom>
          <a:noFill/>
          <a:ln w="127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552944" y="388620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Post-Graduate education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9264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857232" y="2167128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857232" y="2167128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784080" y="2624328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9784080" y="333756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−2.6 pts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012680" y="3749040"/>
            <a:ext cx="1444752" cy="0"/>
          </a:xfrm>
          <a:prstGeom prst="line">
            <a:avLst/>
          </a:prstGeom>
          <a:noFill/>
          <a:ln w="127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9838944" y="3886200"/>
            <a:ext cx="17922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$60K–$80K income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and Doctorate segments are small in size, so results should be validated with qualitative follow-up (e.g., exit surveys) before major strategy changes.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WHAT DRIVES CHURN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Warning Signs Are Behavioural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churn show a consistent pattern of disengagement in the months before they leave.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325880" y="2194560"/>
            <a:ext cx="585216" cy="585216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icon_layer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3134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718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3.28 vs 3.91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vs. Active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" y="3858768"/>
            <a:ext cx="1591056" cy="0"/>
          </a:xfrm>
          <a:prstGeom prst="line">
            <a:avLst/>
          </a:prstGeom>
          <a:noFill/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94944" y="4005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held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4944" y="452628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use fewer PayStone products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71216" y="192024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648456" y="2194560"/>
            <a:ext cx="585216" cy="585216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icon_card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31343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62656" y="29718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 vs 30%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962656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vs. Active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145536" y="3858768"/>
            <a:ext cx="1591056" cy="0"/>
          </a:xfrm>
          <a:prstGeom prst="line">
            <a:avLst/>
          </a:prstGeom>
          <a:noFill/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3017520" y="4005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utilisation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017520" y="452628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use far less of their available credit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193792" y="192024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5971032" y="2194560"/>
            <a:ext cx="585216" cy="585216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2" descr="icon_trenddow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904" y="231343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5232" y="29718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 vs 0.74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5285232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vs. Active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68112" y="3858768"/>
            <a:ext cx="1591056" cy="0"/>
          </a:xfrm>
          <a:prstGeom prst="line">
            <a:avLst/>
          </a:prstGeom>
          <a:noFill/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5340096" y="4005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 change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340096" y="452628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Churners' activity drops off more sharply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516368" y="192024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5"/>
          <p:cNvSpPr/>
          <p:nvPr/>
        </p:nvSpPr>
        <p:spPr>
          <a:xfrm>
            <a:off x="8293608" y="2194560"/>
            <a:ext cx="585216" cy="585216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3" descr="icon_phon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231343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607808" y="29718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 vs 0.20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7607808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vs. Active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790688" y="3858768"/>
            <a:ext cx="1591056" cy="0"/>
          </a:xfrm>
          <a:prstGeom prst="line">
            <a:avLst/>
          </a:prstGeom>
          <a:noFill/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9"/>
          <p:cNvSpPr/>
          <p:nvPr/>
        </p:nvSpPr>
        <p:spPr>
          <a:xfrm>
            <a:off x="7662672" y="4005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contact frequency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662672" y="452628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contact customer service more often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838944" y="1920240"/>
            <a:ext cx="2139696" cy="4114800"/>
          </a:xfrm>
          <a:prstGeom prst="roundRect">
            <a:avLst>
              <a:gd name="adj" fmla="val 3419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2"/>
          <p:cNvSpPr/>
          <p:nvPr/>
        </p:nvSpPr>
        <p:spPr>
          <a:xfrm>
            <a:off x="10616184" y="2194560"/>
            <a:ext cx="585216" cy="585216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9" name="Image 4" descr="icon_activity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5056" y="2313432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930384" y="29718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 vs 0.19</a:t>
            </a:r>
            <a:endParaRPr lang="en-US" sz="2000" dirty="0"/>
          </a:p>
        </p:txBody>
      </p:sp>
      <p:sp>
        <p:nvSpPr>
          <p:cNvPr id="41" name="Text 34"/>
          <p:cNvSpPr/>
          <p:nvPr/>
        </p:nvSpPr>
        <p:spPr>
          <a:xfrm>
            <a:off x="9930384" y="3456432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vs. Active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10113264" y="3858768"/>
            <a:ext cx="1591056" cy="0"/>
          </a:xfrm>
          <a:prstGeom prst="line">
            <a:avLst/>
          </a:prstGeom>
          <a:noFill/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6"/>
          <p:cNvSpPr/>
          <p:nvPr/>
        </p:nvSpPr>
        <p:spPr>
          <a:xfrm>
            <a:off x="9985248" y="4005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ratio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9985248" y="4526280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have more inactive months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11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 PREDICTING CHURN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Models, One Clear Winner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GB" sz="1400" b="1" dirty="0"/>
          </a:p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Four machine learning models were trained and evaluated using the same customer dataset. Performance was assessed using ROC-AUC, where 50% represents random guessing and 100% represents perfect discrimination.</a:t>
            </a:r>
          </a:p>
          <a:p>
            <a:pPr marL="0" indent="0">
              <a:buNone/>
            </a:pP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96596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icon_award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286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458200" y="25786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818120" y="3200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GB" sz="1400" dirty="0"/>
              <a:t>Achieves the highest ROC-AUC (92.5%) and the strongest balance between precision and recall, identifying the most potential churners while minimising false positives.</a:t>
            </a:r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18120" y="4709160"/>
            <a:ext cx="3657600" cy="0"/>
          </a:xfrm>
          <a:prstGeom prst="line">
            <a:avLst/>
          </a:prstGeom>
          <a:noFill/>
          <a:ln w="127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81812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(92.2%) is a strong, validated alternative.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81812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(88.3%) trails the others noticeably.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PREDICTING CHURN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It Work In Practice?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GB" sz="1400" dirty="0"/>
          </a:p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Tested on 2,026 previously unseen customers, the CatBoost model reliably distinguishes between high-risk and low-risk customers.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62.8%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catch rate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114798"/>
            <a:ext cx="3063240" cy="1051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700"/>
              </a:lnSpc>
            </a:pPr>
            <a:endParaRPr lang="en-GB" sz="1400" b="1" dirty="0"/>
          </a:p>
          <a:p>
            <a:pPr>
              <a:lnSpc>
                <a:spcPts val="1700"/>
              </a:lnSpc>
            </a:pPr>
            <a:r>
              <a:rPr lang="en-GB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The model correctly identified 204 of the 325 customers who actually churned in the test set, demonstrating its ability to flag at-risk customers before they left.</a:t>
            </a:r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5166360"/>
            <a:ext cx="3063240" cy="0"/>
          </a:xfrm>
          <a:prstGeom prst="line">
            <a:avLst/>
          </a:prstGeom>
          <a:noFill/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77240" y="5349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  </a:t>
            </a:r>
            <a:r>
              <a:rPr lang="en-US" sz="120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loyal customers correctly identified as low-risk</a:t>
            </a:r>
            <a:endParaRPr lang="en-US" sz="1600" dirty="0"/>
          </a:p>
        </p:txBody>
      </p:sp>
      <p:pic>
        <p:nvPicPr>
          <p:cNvPr id="12" name="Image 1" descr="Churn_prob_di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1874520"/>
            <a:ext cx="7086600" cy="3931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5852160"/>
            <a:ext cx="7086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score at very low risk; a distinct high-risk tail is where retention effort should focus.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 PREDICTING CHURN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Says Drives Churn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GB" sz="1400" b="1" dirty="0"/>
          </a:p>
          <a:p>
            <a:r>
              <a:rPr lang="en-GB" sz="1400" dirty="0">
                <a:solidFill>
                  <a:schemeClr val="bg2">
                    <a:lumMod val="75000"/>
                  </a:schemeClr>
                </a:solidFill>
              </a:rPr>
              <a:t>Contact frequency and inactivity are the strongest predictive factors, indicating that customers who become unusually inactive or require increased support attention are the most important groups to monitor.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011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Frequency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2130552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46120" y="2130552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89720" y="20391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single signal of risk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8163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Ratio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2935224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46120" y="2935224"/>
            <a:ext cx="3917290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189720" y="284378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disengaged from the account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667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864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2102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(Graduate)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46120" y="3739896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46120" y="3739896"/>
            <a:ext cx="2822753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189720" y="364845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Graduate-qualified customers show distinct patterns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714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4471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442569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Relationship Count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46120" y="4544568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246120" y="4544568"/>
            <a:ext cx="2477110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189720" y="445312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PayStone products held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2760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8640" y="5276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34440" y="5230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 Change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246120" y="5349240"/>
            <a:ext cx="5760720" cy="347472"/>
          </a:xfrm>
          <a:prstGeom prst="roundRect">
            <a:avLst>
              <a:gd name="adj" fmla="val 1578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246120" y="5349240"/>
            <a:ext cx="1958645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9189720" y="5257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 in transaction activity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WHAT TO DO ABOUT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Recommended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4206240"/>
          </a:xfrm>
          <a:prstGeom prst="roundRect">
            <a:avLst>
              <a:gd name="adj" fmla="val 2730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targ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50592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34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 the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222199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active customer base monthly and route high-risk customers to the retention team.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0712" y="1691640"/>
            <a:ext cx="2679192" cy="4206240"/>
          </a:xfrm>
          <a:prstGeom prst="roundRect">
            <a:avLst>
              <a:gd name="adj" fmla="val 2730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639312" y="1965960"/>
            <a:ext cx="548640" cy="54864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phon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12664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34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39312" y="274320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early warning signs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39312" y="3520440"/>
            <a:ext cx="222199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rising support contact and falling transaction activity for proactive outreach.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72784" y="1691640"/>
            <a:ext cx="2679192" cy="4206240"/>
          </a:xfrm>
          <a:prstGeom prst="roundRect">
            <a:avLst>
              <a:gd name="adj" fmla="val 2730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501384" y="1965960"/>
            <a:ext cx="548640" cy="54864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lay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74736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34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501384" y="274320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to at-risk customers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01384" y="3520440"/>
            <a:ext cx="222199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600"/>
              </a:lnSpc>
            </a:pPr>
            <a:r>
              <a:rPr lang="en-GB" sz="1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Customers with more products tend to be more loyal, highlighting the value of strengthening multi-product relationships.</a:t>
            </a:r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34856" y="1691640"/>
            <a:ext cx="2679192" cy="4206240"/>
          </a:xfrm>
          <a:prstGeom prst="roundRect">
            <a:avLst>
              <a:gd name="adj" fmla="val 2730"/>
            </a:avLst>
          </a:prstGeom>
          <a:solidFill>
            <a:srgbClr val="141A47"/>
          </a:solidFill>
          <a:ln w="12700">
            <a:solidFill>
              <a:srgbClr val="33408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9363456" y="1965960"/>
            <a:ext cx="548640" cy="54864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alert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1031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036808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340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363456" y="2743200"/>
            <a:ext cx="2221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high-risk segments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63456" y="3520440"/>
            <a:ext cx="222199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3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exit interviews with recently churned Platinum and Doctorate-education customers.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11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WHAT TO DO ABOUT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Rollout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0332720" cy="0"/>
          </a:xfrm>
          <a:prstGeom prst="line">
            <a:avLst/>
          </a:prstGeom>
          <a:noFill/>
          <a:ln w="25400">
            <a:solidFill>
              <a:srgbClr val="DADF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732788" y="2578608"/>
            <a:ext cx="329184" cy="32918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monthly scoring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303020" y="3429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03020" y="34290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month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4548" y="2578608"/>
            <a:ext cx="329184" cy="32918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91840" y="169164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429000" y="17647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retention outreach workflow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063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Retention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954780" y="3429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954780" y="34290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months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36308" y="2578608"/>
            <a:ext cx="329184" cy="32918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43600" y="169164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080760" y="17647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qualitative review of high-risk segments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063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06540" y="3429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606540" y="34290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months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88068" y="2578608"/>
            <a:ext cx="329184" cy="32918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595360" y="169164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5F7FB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732520" y="176479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32520" y="2011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performance &amp; retrain on new data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41080" y="3063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258300" y="342900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258300" y="34290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0" descr="icon_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54880"/>
            <a:ext cx="502920" cy="502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600200" y="457200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GB" sz="1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With the model in production, PayStone gains a repeatable, data-driven early-warning system that shifts churn management from a lagging indicator to a proactive retention process.</a:t>
            </a:r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162495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 |  Customer Churn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4023360"/>
            <a:ext cx="128016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68680" y="5943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Team
</a:t>
            </a: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PayStone Customer Churn Analysis  •  August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1016</Words>
  <Application>Microsoft Office PowerPoint</Application>
  <PresentationFormat>Widescreen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EUGENE OSAE</cp:lastModifiedBy>
  <cp:revision>2</cp:revision>
  <dcterms:created xsi:type="dcterms:W3CDTF">2026-08-20T22:12:56Z</dcterms:created>
  <dcterms:modified xsi:type="dcterms:W3CDTF">2026-08-21T09:08:57Z</dcterms:modified>
</cp:coreProperties>
</file>